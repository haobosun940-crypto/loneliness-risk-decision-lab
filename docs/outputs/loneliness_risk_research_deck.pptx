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9990bd7c74076" /><Relationship Type="http://schemas.openxmlformats.org/officeDocument/2006/relationships/extended-properties" Target="/docProps/app.xml" Id="R750d219f8110443e" /><Relationship Type="http://schemas.openxmlformats.org/officeDocument/2006/relationships/officeDocument" Target="/ppt/presentation.xml" Id="R5135fa73b6ef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b1cb49c7243a2"/>
  </p:sldMasterIdLst>
  <p:notesMasterIdLst>
    <p:notesMasterId xmlns:r="http://schemas.openxmlformats.org/officeDocument/2006/relationships" r:id="R92338f001092419a"/>
  </p:notesMasterIdLst>
  <p:sldIdLst>
    <p:sldId xmlns:r="http://schemas.openxmlformats.org/officeDocument/2006/relationships" id="256" r:id="R24cff93964734cd1"/>
    <p:sldId xmlns:r="http://schemas.openxmlformats.org/officeDocument/2006/relationships" id="257" r:id="Reff9a1b281fe4566"/>
    <p:sldId xmlns:r="http://schemas.openxmlformats.org/officeDocument/2006/relationships" id="258" r:id="Rc3744fbd8264449b"/>
    <p:sldId xmlns:r="http://schemas.openxmlformats.org/officeDocument/2006/relationships" id="259" r:id="R8764ca7cda534778"/>
    <p:sldId xmlns:r="http://schemas.openxmlformats.org/officeDocument/2006/relationships" id="260" r:id="R0a68345ebe234bb0"/>
    <p:sldId xmlns:r="http://schemas.openxmlformats.org/officeDocument/2006/relationships" id="261" r:id="Red18a4f235bc4c7e"/>
    <p:sldId xmlns:r="http://schemas.openxmlformats.org/officeDocument/2006/relationships" id="262" r:id="R414322294e224358"/>
    <p:sldId xmlns:r="http://schemas.openxmlformats.org/officeDocument/2006/relationships" id="263" r:id="Re6b349f134e147ef"/>
    <p:sldId xmlns:r="http://schemas.openxmlformats.org/officeDocument/2006/relationships" id="264" r:id="Rea513101998a4fc1"/>
    <p:sldId xmlns:r="http://schemas.openxmlformats.org/officeDocument/2006/relationships" id="265" r:id="R615e99a46b634a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aa44593534b7e" /><Relationship Type="http://schemas.openxmlformats.org/officeDocument/2006/relationships/slideMaster" Target="/ppt/slideMasters/slideMaster1.xml" Id="Rb8fb1cb49c7243a2" /><Relationship Type="http://schemas.openxmlformats.org/officeDocument/2006/relationships/notesMaster" Target="/ppt/notesMasters/notesMaster1.xml" Id="R92338f001092419a" /><Relationship Type="http://schemas.openxmlformats.org/officeDocument/2006/relationships/presProps" Target="/ppt/presProps.xml" Id="R67c11e6ea5ac4681" /><Relationship Type="http://schemas.openxmlformats.org/officeDocument/2006/relationships/tableStyles" Target="/ppt/tableStyles.xml" Id="R027d897a313042fa" /><Relationship Type="http://schemas.openxmlformats.org/officeDocument/2006/relationships/slide" Target="/ppt/slides/slide1.xml" Id="R24cff93964734cd1" /><Relationship Type="http://schemas.openxmlformats.org/officeDocument/2006/relationships/slide" Target="/ppt/slides/slide2.xml" Id="Reff9a1b281fe4566" /><Relationship Type="http://schemas.openxmlformats.org/officeDocument/2006/relationships/slide" Target="/ppt/slides/slide3.xml" Id="Rc3744fbd8264449b" /><Relationship Type="http://schemas.openxmlformats.org/officeDocument/2006/relationships/slide" Target="/ppt/slides/slide4.xml" Id="R8764ca7cda534778" /><Relationship Type="http://schemas.openxmlformats.org/officeDocument/2006/relationships/slide" Target="/ppt/slides/slide5.xml" Id="R0a68345ebe234bb0" /><Relationship Type="http://schemas.openxmlformats.org/officeDocument/2006/relationships/slide" Target="/ppt/slides/slide6.xml" Id="Red18a4f235bc4c7e" /><Relationship Type="http://schemas.openxmlformats.org/officeDocument/2006/relationships/slide" Target="/ppt/slides/slide7.xml" Id="R414322294e224358" /><Relationship Type="http://schemas.openxmlformats.org/officeDocument/2006/relationships/slide" Target="/ppt/slides/slide8.xml" Id="Re6b349f134e147ef" /><Relationship Type="http://schemas.openxmlformats.org/officeDocument/2006/relationships/slide" Target="/ppt/slides/slide9.xml" Id="Rea513101998a4fc1" /><Relationship Type="http://schemas.openxmlformats.org/officeDocument/2006/relationships/slide" Target="/ppt/slides/slide10.xml" Id="R615e99a46b63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b6c9dba56c4c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cd85966074691" /><Relationship Type="http://schemas.openxmlformats.org/officeDocument/2006/relationships/notesMaster" Target="/ppt/notesMasters/notesMaster1.xml" Id="R036a0c95998a4f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b6e228f26740b0" /><Relationship Type="http://schemas.openxmlformats.org/officeDocument/2006/relationships/notesMaster" Target="/ppt/notesMasters/notesMaster1.xml" Id="R9aac1e1ac27d4f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2cacf7e404ce3" /><Relationship Type="http://schemas.openxmlformats.org/officeDocument/2006/relationships/notesMaster" Target="/ppt/notesMasters/notesMaster1.xml" Id="R763e10fb4717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a28303e7149bc" /><Relationship Type="http://schemas.openxmlformats.org/officeDocument/2006/relationships/notesMaster" Target="/ppt/notesMasters/notesMaster1.xml" Id="Rd68f76676bdf44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5300f3c424b2b" /><Relationship Type="http://schemas.openxmlformats.org/officeDocument/2006/relationships/notesMaster" Target="/ppt/notesMasters/notesMaster1.xml" Id="Rc9e6d2e7da01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48bf3e3094404c" /><Relationship Type="http://schemas.openxmlformats.org/officeDocument/2006/relationships/notesMaster" Target="/ppt/notesMasters/notesMaster1.xml" Id="R9b7d7e162d4e47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a61c895594054" /><Relationship Type="http://schemas.openxmlformats.org/officeDocument/2006/relationships/notesMaster" Target="/ppt/notesMasters/notesMaster1.xml" Id="Rff570cdd757f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bfbb4dfa5b47b4" /><Relationship Type="http://schemas.openxmlformats.org/officeDocument/2006/relationships/notesMaster" Target="/ppt/notesMasters/notesMaster1.xml" Id="R506a2766d48246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511d97978e4107" /><Relationship Type="http://schemas.openxmlformats.org/officeDocument/2006/relationships/notesMaster" Target="/ppt/notesMasters/notesMaster1.xml" Id="R010708b48f9144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83c406623c4334" /><Relationship Type="http://schemas.openxmlformats.org/officeDocument/2006/relationships/notesMaster" Target="/ppt/notesMasters/notesMaster1.xml" Id="Rb66c791ff2ba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2e52bdebb40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25a04238cd4a43" /><Relationship Type="http://schemas.openxmlformats.org/officeDocument/2006/relationships/slideLayout" Target="/ppt/slideLayouts/slideLayout1.xml" Id="R9175d7c9fa29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5d7c9fa29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89f3dfcd4864d94" /><Relationship Type="http://schemas.openxmlformats.org/officeDocument/2006/relationships/notesSlide" Target="/ppt/notesSlides/notesSlide1.xml" Id="R70c3ff636b6742ff" /><Relationship Type="http://schemas.openxmlformats.org/officeDocument/2006/relationships/image" Target="../media/lrdl_logo_mark.png" Id="rIdLrdlLogo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a9cce87b5e64e86" /><Relationship Type="http://schemas.openxmlformats.org/officeDocument/2006/relationships/notesSlide" Target="/ppt/notesSlides/notesSlide2.xml" Id="R4b7da4cac9e049e1" /><Relationship Type="http://schemas.openxmlformats.org/officeDocument/2006/relationships/image" Target="../media/lrdl_logo_mark.png" Id="rIdLrdlLogo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293cdebdf724e00" /><Relationship Type="http://schemas.openxmlformats.org/officeDocument/2006/relationships/notesSlide" Target="/ppt/notesSlides/notesSlide3.xml" Id="Rc51d814227824952" /><Relationship Type="http://schemas.openxmlformats.org/officeDocument/2006/relationships/image" Target="../media/lrdl_logo_mark.png" Id="rIdLrdlLogo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119b5ded8dd400b" /><Relationship Type="http://schemas.openxmlformats.org/officeDocument/2006/relationships/notesSlide" Target="/ppt/notesSlides/notesSlide4.xml" Id="R380e8cfdcfb2438f" /><Relationship Type="http://schemas.openxmlformats.org/officeDocument/2006/relationships/image" Target="../media/lrdl_logo_mark.png" Id="rIdLrdlLogo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7636c04c9584f6e" /><Relationship Type="http://schemas.openxmlformats.org/officeDocument/2006/relationships/chart" Target="/ppt/slides/charts/chart1.xml" Id="R7f0cbc25d1504232" /><Relationship Type="http://schemas.openxmlformats.org/officeDocument/2006/relationships/notesSlide" Target="/ppt/notesSlides/notesSlide5.xml" Id="Rf21f781421a04c88" /><Relationship Type="http://schemas.openxmlformats.org/officeDocument/2006/relationships/image" Target="../media/lrdl_logo_mark.png" Id="rIdLrdlLogo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86da965e9d84e7e" /><Relationship Type="http://schemas.openxmlformats.org/officeDocument/2006/relationships/chart" Target="/ppt/slides/charts/chart2.xml" Id="R2395702d50b2459c" /><Relationship Type="http://schemas.openxmlformats.org/officeDocument/2006/relationships/notesSlide" Target="/ppt/notesSlides/notesSlide6.xml" Id="R669be88d325a41ac" /><Relationship Type="http://schemas.openxmlformats.org/officeDocument/2006/relationships/image" Target="../media/lrdl_logo_mark.png" Id="rIdLrdlLogo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d393ca477864fe5" /><Relationship Type="http://schemas.openxmlformats.org/officeDocument/2006/relationships/notesSlide" Target="/ppt/notesSlides/notesSlide7.xml" Id="R50af2347c8b2420c" /><Relationship Type="http://schemas.openxmlformats.org/officeDocument/2006/relationships/image" Target="../media/lrdl_logo_mark.png" Id="rIdLrdlLogo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4b8fbdfbe1546c8" /><Relationship Type="http://schemas.openxmlformats.org/officeDocument/2006/relationships/notesSlide" Target="/ppt/notesSlides/notesSlide8.xml" Id="Raa4e2e3bdc5c4907" /><Relationship Type="http://schemas.openxmlformats.org/officeDocument/2006/relationships/image" Target="../media/lrdl_logo_mark.png" Id="rIdLrdlLogo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07e127a8bdf4149" /><Relationship Type="http://schemas.openxmlformats.org/officeDocument/2006/relationships/notesSlide" Target="/ppt/notesSlides/notesSlide9.xml" Id="R58be6a4c38cb4b36" /><Relationship Type="http://schemas.openxmlformats.org/officeDocument/2006/relationships/image" Target="../media/lrdl_logo_mark.png" Id="rIdLrdlLogo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d13ca4dbd954707" /><Relationship Type="http://schemas.openxmlformats.org/officeDocument/2006/relationships/notesSlide" Target="/ppt/notesSlides/notesSlide10.xml" Id="R6fbcbc56ed09414c" /><Relationship Type="http://schemas.openxmlformats.org/officeDocument/2006/relationships/image" Target="../media/lrdl_logo_mark.png" Id="rIdLrdlLogo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Risk Decision Index</c:v>
          </c:tx>
          <c:spPr>
            <a:solidFill xmlns:a="http://schemas.openxmlformats.org/drawingml/2006/main">
              <a:srgbClr val="456990"/>
            </a:solidFill>
          </c:spPr>
          <c:dLbls/>
          <c:cat>
            <c:strLit>
              <c:ptCount val="3"/>
              <c:pt idx="0">
                <c:v>Low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29.69</c:v>
              </c:pt>
              <c:pt idx="1">
                <c:v>51.2</c:v>
              </c:pt>
              <c:pt idx="2">
                <c:v>66.39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Coefficient</c:v>
          </c:tx>
          <c:spPr>
            <a:solidFill xmlns:a="http://schemas.openxmlformats.org/drawingml/2006/main">
              <a:srgbClr val="2D6A6A"/>
            </a:solidFill>
          </c:spPr>
          <c:invertIfNegative val="0"/>
          <c:dLbls/>
          <c:cat>
            <c:strLit>
              <c:ptCount val="7"/>
              <c:pt idx="0">
                <c:v>loneliness z</c:v>
              </c:pt>
              <c:pt idx="1">
                <c:v>social connection z</c:v>
              </c:pt>
              <c:pt idx="2">
                <c:v>stress z</c:v>
              </c:pt>
              <c:pt idx="3">
                <c:v>age z</c:v>
              </c:pt>
              <c:pt idx="4">
                <c:v>platform sessions z</c:v>
              </c:pt>
              <c:pt idx="5">
                <c:v>sleep z</c:v>
              </c:pt>
              <c:pt idx="6">
                <c:v>loneliness x connection</c:v>
              </c:pt>
            </c:strLit>
          </c:cat>
          <c:val>
            <c:numLit>
              <c:formatCode>General</c:formatCode>
              <c:ptCount val="7"/>
              <c:pt idx="0">
                <c:v>9.8147</c:v>
              </c:pt>
              <c:pt idx="1">
                <c:v>-5.1317</c:v>
              </c:pt>
              <c:pt idx="2">
                <c:v>4.9362</c:v>
              </c:pt>
              <c:pt idx="3">
                <c:v>0.9789</c:v>
              </c:pt>
              <c:pt idx="4">
                <c:v>1.067</c:v>
              </c:pt>
              <c:pt idx="5">
                <c:v>0.1521</c:v>
              </c:pt>
              <c:pt idx="6">
                <c:v>0.0525</c:v>
              </c:pt>
            </c:numLit>
          </c:val>
        </c:ser>
        <c:dLbls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B8DD6-D170-44A8-90A9-9B48028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23A48"/>
                </a:solidFill>
              </a:defRPr>
            </a:pPr>
            <a:r>
              <a:rPr sz="1200" b="1">
                <a:solidFill>
                  <a:srgbClr val="B23A48"/>
                </a:solidFill>
              </a:rPr>
              <a:t>LONELINESS, SOCIAL CONNECTION, AND RISK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496FB-82E8-4CE2-BE41-07434E6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C2430"/>
                </a:solidFill>
              </a:defRPr>
            </a:pPr>
            <a:r>
              <a:rPr sz="4500" b="1">
                <a:solidFill>
                  <a:srgbClr val="1C2430"/>
                </a:solidFill>
              </a:rPr>
              <a:t>Does loneliness change how people choose risk?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F4714-D767-4729-AFC9-670BA28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A quantitative psychology and statistics project for late adolescents and emerging adults, linking social disconnection to reward timing, impulsive spending, risky choice, and conflict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07F7F-1158-4041-9138-E7CE281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38200"/>
            <a:ext cx="2381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A6E3B-DEA0-4EF9-AB01-063D527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43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BROAD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F75B8-FD0B-4633-ADF1-4089F142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Social psychology and behavioral decision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4AD9-BA6D-417B-B2AE-336B225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56618-218E-4DFB-826F-DE19210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193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Ages 16-24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96D2B-0C30-4B3C-8479-DB469ED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PREDICTOR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1867C-F954-4E8E-A428-9441916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Loneliness and social connectedness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B625D-389F-4C50-A234-FF6FBCED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850D3-1764-4E4F-8968-54E5A2AE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Risk Decision 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465A1-B007-4E3D-8522-8BD55822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756DF-6A7A-4C29-B41E-F58C942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Digital peer networks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6E272-14AD-4D0F-8BC5-8D4F59A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C1D15-2677-431C-9A67-684AE9A4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01</a:t>
            </a:r>
          </a:p>
        </p:txBody>
      </p:sp>
      <p:pic>
        <p:nvPicPr>
          <p:cNvPr id="17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97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367DE-0327-40EA-AD81-4C3F55B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14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Loneliness is modeled as a social signal that can shift decision weighting.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1AE2-12A5-406A-9AF3-AAF5BE5D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2D6A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4C19B-5852-4086-9E6C-B3428AD8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6A"/>
          </a:solidFill>
          <a:ln xmlns:a="http://schemas.openxmlformats.org/drawingml/2006/main" w="9525">
            <a:solidFill>
              <a:srgbClr val="2D6A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4666F-7585-46CE-96F0-D42EE40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Perceived isolation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B4A6-838B-4FDC-B19E-C7243165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Lower belonging and weaker access to support cues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836B-3BFB-454F-B504-6D54D74F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C2430"/>
                </a:solidFill>
              </a:defRPr>
            </a:pPr>
            <a:r>
              <a:rPr sz="3300" b="1">
                <a:solidFill>
                  <a:srgbClr val="1C2430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E7FB5-6647-417B-B687-1B6D3D82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D8E0B-7B37-400A-A780-C3926DF5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22C37-5653-4265-87A0-1A12E750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Affective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FF97B-E512-4103-AAF0-966B62B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Stress, urgency, and affiliation motives become more salient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1B563-9D33-4B79-9DB8-C971AF1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C2430"/>
                </a:solidFill>
              </a:defRPr>
            </a:pPr>
            <a:r>
              <a:rPr sz="3300" b="1">
                <a:solidFill>
                  <a:srgbClr val="1C2430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8D6DE-A6B3-4911-A629-438AF430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4569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75E4E-66BD-45E4-832C-DB45871F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90"/>
          </a:solidFill>
          <a:ln xmlns:a="http://schemas.openxmlformats.org/drawingml/2006/main" w="9525">
            <a:solidFill>
              <a:srgbClr val="4569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1C85C-AF41-4A4E-9E38-EDD09FCE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Decision weighting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BBE22-ED22-4447-AEF2-18A33E52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Immediate reward and defensive conflict responses gain weight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96F14-E454-4209-B21B-3B768E0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C2430"/>
                </a:solidFill>
              </a:defRPr>
            </a:pPr>
            <a:r>
              <a:rPr sz="3300" b="1">
                <a:solidFill>
                  <a:srgbClr val="1C2430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90555-C64E-49EA-AB09-9E9EF9BD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4258A-C55A-4889-849B-DBA5DA82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0366B-259E-44AC-83BC-F5F1227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Observable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14F58-EA1D-4C25-911D-454E8448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Higher composite risk index across tasks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15E00-B2CA-4779-92F0-C9FAB1C9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model is not diagnostic. It is a measurable behavioral-decision framework informed by loneliness, social connectedness, social exclusion, delay discounting, and risk-taking literature.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EC33F-878D-47D8-AA86-A90381A3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0C836-2E53-4B94-8D23-77A0A4AB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02</a:t>
            </a:r>
          </a:p>
        </p:txBody>
      </p:sp>
      <p:pic>
        <p:nvPicPr>
          <p:cNvPr id="24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59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4415F-7AEF-4ED0-98DC-9DA8DE3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430"/>
                </a:solidFill>
              </a:defRPr>
            </a:pPr>
            <a:r>
              <a:rPr sz="3000" b="1">
                <a:solidFill>
                  <a:srgbClr val="1C2430"/>
                </a:solidFill>
              </a:rPr>
              <a:t>The study converts subjective experience into auditable 0-100 indices.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3A415-85A2-4E6D-8729-77F3A9C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76BA-712F-445C-B08E-32B4CF9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Loneliness Index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362AD-67F6-4495-8F5A-52D163A1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7 custom Likert items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2F0A5-4271-49E7-A900-7F97353D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6A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0D2B2-1362-4473-A6E1-2F16CF3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A6A"/>
                </a:solidFill>
              </a:defRPr>
            </a:pPr>
            <a:r>
              <a:rPr sz="1725" b="1">
                <a:solidFill>
                  <a:srgbClr val="2D6A6A"/>
                </a:solidFill>
              </a:rPr>
              <a:t>Social Connection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4ED7C-D5CC-4A28-A712-65D48A7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6 support and contact items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EDF0D-EF23-42CF-AC0E-A05D3C92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199EA-6263-45F1-B5E8-96B5EE8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E04"/>
                </a:solidFill>
              </a:defRPr>
            </a:pPr>
            <a:r>
              <a:rPr sz="1725" b="1">
                <a:solidFill>
                  <a:srgbClr val="D98E04"/>
                </a:solidFill>
              </a:rPr>
              <a:t>Immediate Reward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547B5-56BE-4AB4-A548-90B6A93E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6 delay-choice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77530-A542-4036-AD8E-0658281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9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B1F23-15D7-463E-BA39-10D8B031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56990"/>
                </a:solidFill>
              </a:defRPr>
            </a:pPr>
            <a:r>
              <a:rPr sz="1725" b="1">
                <a:solidFill>
                  <a:srgbClr val="456990"/>
                </a:solidFill>
              </a:rPr>
              <a:t>Impulsive Spending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E0FA3-569F-4AA5-A0A3-04889BF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 consumption impulse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A9271-A315-45ED-B620-87E9102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8D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AC53C-FE2D-4208-A01E-DD6B1EAE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8D58"/>
                </a:solidFill>
              </a:defRPr>
            </a:pPr>
            <a:r>
              <a:rPr sz="1725" b="1">
                <a:solidFill>
                  <a:srgbClr val="678D58"/>
                </a:solidFill>
              </a:rPr>
              <a:t>High-Risk Choice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70296-4306-4738-BA1B-0B5C5FC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 binary risk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D605D-DB2C-41B0-BE74-BBD085AC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EDA0F-6383-4D39-A77C-4306BD27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Conflict Defense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29566-BB35-4F3C-AFE2-BA6FE52E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 conflict-response 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1516B-9F76-41AE-AC17-2823C9D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EC10F4-B70E-41BA-8A6F-8A575D8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RDI = .35 Reward + .25 Spending + .25 Risk + .15 Conflict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400DC-FD7D-43A3-B7CD-C0C482A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1C085-991F-48D9-8EB9-883AE067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03</a:t>
            </a:r>
          </a:p>
        </p:txBody>
      </p:sp>
      <p:pic>
        <p:nvPicPr>
          <p:cNvPr id="24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48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BDF76-39B7-43A7-A5CF-520B4AE3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430"/>
                </a:solidFill>
              </a:defRPr>
            </a:pPr>
            <a:r>
              <a:rPr sz="3000" b="1">
                <a:solidFill>
                  <a:srgbClr val="1C2430"/>
                </a:solidFill>
              </a:rPr>
              <a:t>The website is a data-collection system, not a static project page.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29EE3-5407-45E4-B3E9-FE6EE109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38A1A-E09F-44D8-9AA5-86BFB62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A6A"/>
                </a:solidFill>
              </a:defRPr>
            </a:pPr>
            <a:r>
              <a:rPr sz="1950" b="1">
                <a:solidFill>
                  <a:srgbClr val="2D6A6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854C1-02B6-40CF-A838-B34C6B9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Survey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8D90A-5E73-4C36-A09B-981CBE5E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Numeric social signals and choice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294D6-76A2-4C79-A965-5D44BA8D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9A328-EA87-4BE8-BBFC-6FDF6E5D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8E04"/>
                </a:solidFill>
              </a:defRPr>
            </a:pPr>
            <a:r>
              <a:rPr sz="1950" b="1">
                <a:solidFill>
                  <a:srgbClr val="D98E0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FEA81-0B2E-403D-86AE-F444260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Scoring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0D405-06AF-47FB-9CCF-AD32106B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Immediate profile plus 0-100 indices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C5F00-9518-4294-A976-67CF086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F3A8B-FB58-4E0F-B8F5-B7CFD3DD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56990"/>
                </a:solidFill>
              </a:defRPr>
            </a:pPr>
            <a:r>
              <a:rPr sz="1950" b="1">
                <a:solidFill>
                  <a:srgbClr val="456990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66172-3235-4604-BF6A-E203FC79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SQLite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56ECC-23B9-4966-AF60-04E130F7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Synthetic rows and live submissions stay separated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D35A6-AB0D-4D82-8562-62362D7F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B443F-CA6D-4549-B2EB-1597E1A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23A48"/>
                </a:solidFill>
              </a:defRPr>
            </a:pPr>
            <a:r>
              <a:rPr sz="1950" b="1">
                <a:solidFill>
                  <a:srgbClr val="B23A4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76233-1F76-4E06-9BFB-5B93961E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Research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EDEE7-B86E-4583-B7C5-5E41D2F7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Dashboard, CSV, workbook, PDF, slides, video 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01E49-32E3-4BA1-94C0-53C28B34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C2430"/>
                </a:solidFill>
              </a:defRPr>
            </a:pPr>
            <a:r>
              <a:rPr sz="1800" b="0">
                <a:solidFill>
                  <a:srgbClr val="1C2430"/>
                </a:solidFill>
              </a:rPr>
              <a:t>Seeded database: 420 synthetic pilot rows. Live submissions are written as live_submission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E2AE0-045F-497D-A038-F32CCF21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9CCB3-739A-497D-A1CD-9A29EDE8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04</a:t>
            </a:r>
          </a:p>
        </p:txBody>
      </p:sp>
      <p:pic>
        <p:nvPicPr>
          <p:cNvPr id="21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4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38E35-E80E-4D50-889A-7E726E1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The synthetic pilot produces a clear loneliness-risk gradient.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0cbc25d150423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C4AC-82FB-4E89-A59B-38730106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524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99D53-B168-4410-930D-364922B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</a:defRPr>
            </a:pPr>
            <a:r>
              <a:rPr sz="2025" b="1">
                <a:solidFill>
                  <a:srgbClr val="1C2430"/>
                </a:solidFill>
              </a:rPr>
              <a:t>Key statistics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9079-44BB-4983-BE22-678B020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</a:defRPr>
            </a:pPr>
            <a:r>
              <a:rPr sz="1500" b="0">
                <a:solidFill>
                  <a:srgbClr val="1C2430"/>
                </a:solidFill>
              </a:rPr>
              <a:t>Cronbach alpha for loneliness: 0.911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15C9E-23D1-411E-B3A1-5C428E8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</a:defRPr>
            </a:pPr>
            <a:r>
              <a:rPr sz="1500" b="0">
                <a:solidFill>
                  <a:srgbClr val="1C2430"/>
                </a:solidFill>
              </a:rPr>
              <a:t>ANOVA F(2, 417) = 258.59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DF66F-CF8E-4552-B477-945C44B8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</a:defRPr>
            </a:pPr>
            <a:r>
              <a:rPr sz="1500" b="0">
                <a:solidFill>
                  <a:srgbClr val="1C2430"/>
                </a:solidFill>
              </a:rPr>
              <a:t>Eta squared = 0.554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8B600-6C18-41DD-A0D6-B444A773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Interpretation: the demonstration data support the model logic and validate the technical pipeline; live data are still needed for a real empirical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1BA33-5AB4-4DB0-8DB6-9569E35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4E7AC-109A-4D2F-98D5-5319362D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05</a:t>
            </a:r>
          </a:p>
        </p:txBody>
      </p:sp>
      <p:pic>
        <p:nvPicPr>
          <p:cNvPr id="13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29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BFC2B-C2BA-4DF6-AA30-D0F5A09A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Regression separates loneliness from social connection and stress.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096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95702d50b2459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B9FCD-A84B-45E5-8DA0-B9CCACEF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F5EB7-3EB5-4806-9E0D-3AC08928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85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3A48"/>
                </a:solidFill>
              </a:defRPr>
            </a:pPr>
            <a:r>
              <a:rPr sz="2100" b="1">
                <a:solidFill>
                  <a:srgbClr val="B23A48"/>
                </a:solidFill>
              </a:rPr>
              <a:t>OLS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3A563-AB71-4C41-B4D8-CFFDAEC0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Loneliness z: b = 9.81, p &lt; .001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9220B-F731-429E-B09D-1DA5930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Connection z: b = -5.13, p &lt; .001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67E55-8E2B-4A22-8E71-C858C57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Stress z: b = 4.94, p &lt; .001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EDF2D-17A9-4A85-80F1-8C7D5D9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481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Controls: age, sleep, platform intensity, and loneliness-by-connection interaction.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F8648-A16E-439A-8957-E3230E8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2E952-BEF1-4535-8B04-6C12042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06</a:t>
            </a:r>
          </a:p>
        </p:txBody>
      </p:sp>
      <p:pic>
        <p:nvPicPr>
          <p:cNvPr id="13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93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0418C4-945B-4892-9A12-2329434D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Participants get a profile while the study gains structured data.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A014A-13DF-4AE8-9150-2EFEF03B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EB4B1-689E-4AC0-8509-01E47EF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6990"/>
                </a:solidFill>
              </a:defRPr>
            </a:pPr>
            <a:r>
              <a:rPr sz="2100" b="1">
                <a:solidFill>
                  <a:srgbClr val="456990"/>
                </a:solidFill>
              </a:rPr>
              <a:t>Website interaction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1616D-98CB-4E75-9DE1-DE97550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1. User enters social-platform, messaging, in-person, support, stress, and sleep indicators.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1F55A-1231-4583-877A-607F161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2. Choice tasks estimate immediate reward bias, risky choice, spending impulse, and conflict defense.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41E85-18D5-470D-8E86-78983D4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3. The API returns a Risk Decision Index and decision type.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58D48-DB77-40CC-A1D5-99FF82F2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4. Saved responses are stored locally in SQLite and can be exported as CSV.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A0AB4-C339-48A3-BA13-094FDB2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3714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D031F-A717-4508-9B69-DA22ABD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Personal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593B3-F409-490C-89D8-B99F2846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EE6"/>
                </a:solidFill>
              </a:defRPr>
            </a:pPr>
            <a:r>
              <a:rPr sz="1500" b="0">
                <a:solidFill>
                  <a:srgbClr val="D8DEE6"/>
                </a:solidFill>
              </a:rPr>
              <a:t>Risk Decision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2F8DF-1406-404D-AD3C-3656ECEE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98E04"/>
                </a:solidFill>
              </a:defRPr>
            </a:pPr>
            <a:r>
              <a:rPr sz="4350" b="1">
                <a:solidFill>
                  <a:srgbClr val="D98E04"/>
                </a:solidFill>
              </a:rPr>
              <a:t>64.2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00AE4-E27E-43FD-9EBF-5D0B1999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Reward-sensitive accelerator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9C519-567E-42B5-AACC-4E83646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388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23A48"/>
                </a:solidFill>
              </a:defRPr>
            </a:pPr>
            <a:r>
              <a:rPr sz="1350" b="1">
                <a:solidFill>
                  <a:srgbClr val="B23A48"/>
                </a:solidFill>
              </a:rPr>
              <a:t>Public survey: https://taste-empire-come-advancement.trycloudflare.com/survey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7A76D-F4A7-4E8A-AA52-56114B9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7614F-273A-4A4B-BC18-C8B5C96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07</a:t>
            </a:r>
          </a:p>
        </p:txBody>
      </p:sp>
      <p:pic>
        <p:nvPicPr>
          <p:cNvPr id="16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36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529C1-8165-48D1-A62F-5337B17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A rigorous project distinguishes evidence, pilot simulation, and real data.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76217-5F25-43CB-9E41-7B4F4EF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E4A9C-67A9-4D6B-9356-437F995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A6A"/>
                </a:solidFill>
              </a:defRPr>
            </a:pPr>
            <a:r>
              <a:rPr sz="1725" b="1">
                <a:solidFill>
                  <a:srgbClr val="2D6A6A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7642E-2527-4C30-869E-B022B982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Peer-reviewed sources support constructs and mechanisms.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42035-6793-42DA-BD9B-EE1780BA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4C94D-1844-4541-AFDA-9EFAD6D1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E04"/>
                </a:solidFill>
              </a:defRPr>
            </a:pPr>
            <a:r>
              <a:rPr sz="1725" b="1">
                <a:solidFill>
                  <a:srgbClr val="D98E04"/>
                </a:solidFill>
              </a:rPr>
              <a:t>Synthetic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D5D5E-494A-481B-A555-AF618CB9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Generated rows test the pipeline and are clearly labeled.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DC7D7-B950-401A-B87D-12B2BB4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F8AD3-1A00-43D2-862F-CE294CE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56990"/>
                </a:solidFill>
              </a:defRPr>
            </a:pPr>
            <a:r>
              <a:rPr sz="1725" b="1">
                <a:solidFill>
                  <a:srgbClr val="456990"/>
                </a:solidFill>
              </a:rPr>
              <a:t>Live submissions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D1BEA-629E-4B73-917F-C58A4589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Website entries are stored separately in SQLite.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ECFF2-E508-4BB3-A8E2-88332963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32557-0CEF-4999-BC31-1B5D8A9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Ethics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A70D3-E881-4E4D-8B87-3EC29A3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A supervised study should add consent language and avoid identifiers.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3124C-143F-4913-94BE-7640BE75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Core sources include UCLA loneliness measurement, short loneliness surveys, social connectedness, DOSPERT risk-taking, delay discounting, impulsive buying, social exclusion, and public-health social connection reports.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ADFD5-93C1-4AF3-B8E2-41A5DBE4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71941-D5C4-4CA5-983F-6BA32D77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08</a:t>
            </a:r>
          </a:p>
        </p:txBody>
      </p:sp>
      <p:pic>
        <p:nvPicPr>
          <p:cNvPr id="17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30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72F7F-838D-4A35-9F2B-EA0C7FE0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430"/>
                </a:solidFill>
              </a:defRPr>
            </a:pPr>
            <a:r>
              <a:rPr sz="3000" b="1">
                <a:solidFill>
                  <a:srgbClr val="1C2430"/>
                </a:solidFill>
              </a:rPr>
              <a:t>The research package can now move from local demo to public collection.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A3300-3248-4842-A081-8E88DE4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85DA8-E57B-4039-9ED1-858106C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6990"/>
                </a:solidFill>
              </a:defRPr>
            </a:pPr>
            <a:r>
              <a:rPr sz="2100" b="1">
                <a:solidFill>
                  <a:srgbClr val="456990"/>
                </a:solidFill>
              </a:rPr>
              <a:t>Public access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A40E-CEFF-49A3-A7DD-1190FDBE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6A6A"/>
                </a:solidFill>
              </a:defRPr>
            </a:pPr>
            <a:r>
              <a:rPr sz="1425" b="1">
                <a:solidFill>
                  <a:srgbClr val="2D6A6A"/>
                </a:solidFill>
              </a:rPr>
              <a:t>Current survey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3245E-FD42-4718-84E9-AAFBE5EF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</a:defRPr>
            </a:pPr>
            <a:r>
              <a:rPr sz="1050" b="0">
                <a:solidFill>
                  <a:srgbClr val="1C2430"/>
                </a:solidFill>
              </a:rPr>
              <a:t>https://taste-empire-come-advancement.trycloudflare.com/survey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435FD-B3D9-45C5-A406-41A1CFC7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8E04"/>
                </a:solidFill>
              </a:defRPr>
            </a:pPr>
            <a:r>
              <a:rPr sz="1425" b="1">
                <a:solidFill>
                  <a:srgbClr val="D98E04"/>
                </a:solidFill>
              </a:rPr>
              <a:t>GitHub repo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726AC-035D-4A4F-8493-51896C7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</a:defRPr>
            </a:pPr>
            <a:r>
              <a:rPr sz="1050" b="0">
                <a:solidFill>
                  <a:srgbClr val="1C2430"/>
                </a:solidFill>
              </a:rPr>
              <a:t>https://github.com/haobosun940-crypto/loneliness-risk-decision-lab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1FC26-33F8-42FD-BCC0-9F4514DC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6990"/>
                </a:solidFill>
              </a:defRPr>
            </a:pPr>
            <a:r>
              <a:rPr sz="1425" b="1">
                <a:solidFill>
                  <a:srgbClr val="456990"/>
                </a:solidFill>
              </a:rPr>
              <a:t>Render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505EC-42E9-484B-962E-88AB3CDF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</a:defRPr>
            </a:pPr>
            <a:r>
              <a:rPr sz="1050" b="0">
                <a:solidFill>
                  <a:srgbClr val="1C2430"/>
                </a:solidFill>
              </a:rPr>
              <a:t>https://dashboard.render.com/blueprint/new?repo=https://github.com/haobosun940-crypto/loneliness-risk-decision-lab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21017-D7A2-42C0-B9E2-8DD5C1F8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3A48"/>
                </a:solidFill>
              </a:defRPr>
            </a:pPr>
            <a:r>
              <a:rPr sz="1425" b="1">
                <a:solidFill>
                  <a:srgbClr val="B23A48"/>
                </a:solidFill>
              </a:rPr>
              <a:t>Downloads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66604-F79D-4CE7-B027-1FF226A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</a:defRPr>
            </a:pPr>
            <a:r>
              <a:rPr sz="1050" b="0">
                <a:solidFill>
                  <a:srgbClr val="1C2430"/>
                </a:solidFill>
              </a:rPr>
              <a:t>https://taste-empire-come-advancement.trycloudflare.com/downloads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7DCA6-3159-4E0F-B473-BE5F571B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62100"/>
            <a:ext cx="4095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FCD51-A234-4ACB-8168-C3DCFCC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85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Route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B3753-B74F-4E92-A407-25FB9D1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E04"/>
                </a:solidFill>
              </a:defRPr>
            </a:pPr>
            <a:r>
              <a:rPr sz="1650" b="1">
                <a:solidFill>
                  <a:srgbClr val="D98E04"/>
                </a:solidFill>
              </a:rPr>
              <a:t>/survey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CFBA8-700C-4B4D-B8DD-983AAB4E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EE6"/>
                </a:solidFill>
              </a:defRPr>
            </a:pPr>
            <a:r>
              <a:rPr sz="1200" b="0">
                <a:solidFill>
                  <a:srgbClr val="D8DEE6"/>
                </a:solidFill>
              </a:rPr>
              <a:t>Questionnaire and personal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A91A4-3F38-4A81-A341-5430F96B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E04"/>
                </a:solidFill>
              </a:defRPr>
            </a:pPr>
            <a:r>
              <a:rPr sz="1650" b="1">
                <a:solidFill>
                  <a:srgbClr val="D98E04"/>
                </a:solidFill>
              </a:rPr>
              <a:t>/dashboard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C0C3D-2ABC-4DF4-AAD7-825C3FA2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EE6"/>
                </a:solidFill>
              </a:defRPr>
            </a:pPr>
            <a:r>
              <a:rPr sz="1200" b="0">
                <a:solidFill>
                  <a:srgbClr val="D8DEE6"/>
                </a:solidFill>
              </a:rPr>
              <a:t>Live submissions and CSV 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72883-C0B6-4D87-BB10-B6E044A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57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E04"/>
                </a:solidFill>
              </a:defRPr>
            </a:pPr>
            <a:r>
              <a:rPr sz="1650" b="1">
                <a:solidFill>
                  <a:srgbClr val="D98E04"/>
                </a:solidFill>
              </a:rPr>
              <a:t>/research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9EA5E-7387-40A1-BA49-C8DE8CB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EE6"/>
                </a:solidFill>
              </a:defRPr>
            </a:pPr>
            <a:r>
              <a:rPr sz="1200" b="0">
                <a:solidFill>
                  <a:srgbClr val="D8DEE6"/>
                </a:solidFill>
              </a:rPr>
              <a:t>Model outputs and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6628A-ABC2-44AF-9E05-F44752F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48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E04"/>
                </a:solidFill>
              </a:defRPr>
            </a:pPr>
            <a:r>
              <a:rPr sz="1650" b="1">
                <a:solidFill>
                  <a:srgbClr val="D98E04"/>
                </a:solidFill>
              </a:rPr>
              <a:t>/downloads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75521-E261-4A27-8883-C074BC5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EE6"/>
                </a:solidFill>
              </a:defRPr>
            </a:pPr>
            <a:r>
              <a:rPr sz="1200" b="0">
                <a:solidFill>
                  <a:srgbClr val="D8DEE6"/>
                </a:solidFill>
              </a:rPr>
              <a:t>PDF, Word, PPT, workbook, video, package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F0915-ADE8-4288-B9C9-7CC1D95F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temporary tunnel is ready for classmate collection now. Render should be used for a stable long-running study link.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8ADD8-6F79-4187-8B10-EA19769B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A4768-C54F-424D-B30C-B4700E6B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09</a:t>
            </a:r>
          </a:p>
        </p:txBody>
      </p:sp>
      <p:pic>
        <p:nvPicPr>
          <p:cNvPr id="25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67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2AFCB-54D4-46A2-9D8A-758762DE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The strongest next step is real sampling, not more decoration.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2A7DE-9B61-43F6-A5F3-63B5BB5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8BD58-B366-4E30-B369-1D79794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D6A6A"/>
                </a:solidFill>
              </a:defRPr>
            </a:pPr>
            <a:r>
              <a:rPr sz="3300" b="1">
                <a:solidFill>
                  <a:srgbClr val="2D6A6A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333DE-1D8B-4097-98B8-B3FFDECB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05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Pilot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8818C-13E6-4FAD-8B9E-6F6F6950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38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Have a mentor review item wording, consent, and risk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FD498-67B3-4438-A83C-5F950E0D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8D7F9-750D-41A3-BD98-35B6CE5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8E04"/>
                </a:solidFill>
              </a:defRPr>
            </a:pPr>
            <a:r>
              <a:rPr sz="3300" b="1">
                <a:solidFill>
                  <a:srgbClr val="D98E04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B5965-A00C-4469-B459-14BAEA19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05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Collect 80-150 live responses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02BF4-E9F2-4218-8478-C7FADEB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Use the QR/link and keep synthetic data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F312-3698-496B-9376-3D2EDF65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89760-5D14-476E-9A83-DE7845F7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56990"/>
                </a:solidFill>
              </a:defRPr>
            </a:pPr>
            <a:r>
              <a:rPr sz="3300" b="1">
                <a:solidFill>
                  <a:srgbClr val="45699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E83C8-7A93-4BE4-A04E-A2D7CDF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Run Stata/R replication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C8624-E2F4-4C18-8BED-357FF1CD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57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Use the included .do file and workbook model sheets.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EC2D2-F46D-426A-A65C-E24C8C5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7D27C-2ACC-475C-AC74-8309EED5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23A48"/>
                </a:solidFill>
              </a:defRPr>
            </a:pPr>
            <a:r>
              <a:rPr sz="3300" b="1">
                <a:solidFill>
                  <a:srgbClr val="B23A48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DD983-87C2-47F9-A892-84D642A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Revise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C4004-4F3D-4009-AB55-382C1A23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Replace demonstration language with empirical findings only after real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7BAFD-02B3-41BB-994B-F0869AD0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Final output: public research website, Word report, PDF paper, workbook, deck, video, and full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BC279-22BB-4661-A89A-E60B422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Developed by He Haoze (何昊泽)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26896-1215-4A57-A7ED-E2459A6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10</a:t>
            </a:r>
          </a:p>
        </p:txBody>
      </p:sp>
      <p:pic>
        <p:nvPicPr>
          <p:cNvPr id="21" name="LRDL HHZ logo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Lrdl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6267450"/>
            <a:ext cx="342900" cy="34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58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Developed by He Haoze (何昊泽)</dc:creator>
  <lastModifiedBy>Developed by He Haoze (何昊泽)</lastModifiedBy>
  <dc:title>Loneliness, Social Connection, and Risk Decisions</dc:title>
  <dcterms:created xsi:type="dcterms:W3CDTF">2026-07-06T10:47:14.3530000Z</dcterms:created>
  <dcterms:modified xsi:type="dcterms:W3CDTF">2026-07-06T10:47:14.3530000Z</dcterms:modified>
</coreProperties>
</file>