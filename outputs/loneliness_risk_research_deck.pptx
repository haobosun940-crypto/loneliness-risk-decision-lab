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d2d83a3e9d4912" /><Relationship Type="http://schemas.openxmlformats.org/officeDocument/2006/relationships/extended-properties" Target="/docProps/app.xml" Id="R4312e02dacb04fe7" /><Relationship Type="http://schemas.openxmlformats.org/officeDocument/2006/relationships/officeDocument" Target="/ppt/presentation.xml" Id="R31a34e61d6264e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6c6f3a609e47ec"/>
  </p:sldMasterIdLst>
  <p:notesMasterIdLst>
    <p:notesMasterId xmlns:r="http://schemas.openxmlformats.org/officeDocument/2006/relationships" r:id="R606804510f5848c5"/>
  </p:notesMasterIdLst>
  <p:sldIdLst>
    <p:sldId xmlns:r="http://schemas.openxmlformats.org/officeDocument/2006/relationships" id="256" r:id="R9fed1abdd1ea4080"/>
    <p:sldId xmlns:r="http://schemas.openxmlformats.org/officeDocument/2006/relationships" id="257" r:id="R39151d8f3f364a9c"/>
    <p:sldId xmlns:r="http://schemas.openxmlformats.org/officeDocument/2006/relationships" id="258" r:id="R294a99dc92c14755"/>
    <p:sldId xmlns:r="http://schemas.openxmlformats.org/officeDocument/2006/relationships" id="259" r:id="R1da6bc691b10463e"/>
    <p:sldId xmlns:r="http://schemas.openxmlformats.org/officeDocument/2006/relationships" id="260" r:id="R55e26d5c0e084a95"/>
    <p:sldId xmlns:r="http://schemas.openxmlformats.org/officeDocument/2006/relationships" id="261" r:id="Rd5d067c62b42470b"/>
    <p:sldId xmlns:r="http://schemas.openxmlformats.org/officeDocument/2006/relationships" id="262" r:id="Racce0c8e2e714728"/>
    <p:sldId xmlns:r="http://schemas.openxmlformats.org/officeDocument/2006/relationships" id="263" r:id="Rc551d18fa2dc47d4"/>
    <p:sldId xmlns:r="http://schemas.openxmlformats.org/officeDocument/2006/relationships" id="264" r:id="R305cbe0b7a354b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31dd9b7e5040da" /><Relationship Type="http://schemas.openxmlformats.org/officeDocument/2006/relationships/slideMaster" Target="/ppt/slideMasters/slideMaster1.xml" Id="R4b6c6f3a609e47ec" /><Relationship Type="http://schemas.openxmlformats.org/officeDocument/2006/relationships/notesMaster" Target="/ppt/notesMasters/notesMaster1.xml" Id="R606804510f5848c5" /><Relationship Type="http://schemas.openxmlformats.org/officeDocument/2006/relationships/presProps" Target="/ppt/presProps.xml" Id="R358102d2c4994f67" /><Relationship Type="http://schemas.openxmlformats.org/officeDocument/2006/relationships/tableStyles" Target="/ppt/tableStyles.xml" Id="Re0d78c739ee9435e" /><Relationship Type="http://schemas.openxmlformats.org/officeDocument/2006/relationships/slide" Target="/ppt/slides/slide1.xml" Id="R9fed1abdd1ea4080" /><Relationship Type="http://schemas.openxmlformats.org/officeDocument/2006/relationships/slide" Target="/ppt/slides/slide2.xml" Id="R39151d8f3f364a9c" /><Relationship Type="http://schemas.openxmlformats.org/officeDocument/2006/relationships/slide" Target="/ppt/slides/slide3.xml" Id="R294a99dc92c14755" /><Relationship Type="http://schemas.openxmlformats.org/officeDocument/2006/relationships/slide" Target="/ppt/slides/slide4.xml" Id="R1da6bc691b10463e" /><Relationship Type="http://schemas.openxmlformats.org/officeDocument/2006/relationships/slide" Target="/ppt/slides/slide5.xml" Id="R55e26d5c0e084a95" /><Relationship Type="http://schemas.openxmlformats.org/officeDocument/2006/relationships/slide" Target="/ppt/slides/slide6.xml" Id="Rd5d067c62b42470b" /><Relationship Type="http://schemas.openxmlformats.org/officeDocument/2006/relationships/slide" Target="/ppt/slides/slide7.xml" Id="Racce0c8e2e714728" /><Relationship Type="http://schemas.openxmlformats.org/officeDocument/2006/relationships/slide" Target="/ppt/slides/slide8.xml" Id="Rc551d18fa2dc47d4" /><Relationship Type="http://schemas.openxmlformats.org/officeDocument/2006/relationships/slide" Target="/ppt/slides/slide9.xml" Id="R305cbe0b7a354b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6ea315239f40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c65ece015d43b9" /><Relationship Type="http://schemas.openxmlformats.org/officeDocument/2006/relationships/notesMaster" Target="/ppt/notesMasters/notesMaster1.xml" Id="R62290a5bbebd4e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613690088e45c8" /><Relationship Type="http://schemas.openxmlformats.org/officeDocument/2006/relationships/notesMaster" Target="/ppt/notesMasters/notesMaster1.xml" Id="Rffb07979caa848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b808d4b615485f" /><Relationship Type="http://schemas.openxmlformats.org/officeDocument/2006/relationships/notesMaster" Target="/ppt/notesMasters/notesMaster1.xml" Id="Rae5ede7beb0643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cfb1e029bb4c13" /><Relationship Type="http://schemas.openxmlformats.org/officeDocument/2006/relationships/notesMaster" Target="/ppt/notesMasters/notesMaster1.xml" Id="Refc3edc482af4c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c0fceae3234f2d" /><Relationship Type="http://schemas.openxmlformats.org/officeDocument/2006/relationships/notesMaster" Target="/ppt/notesMasters/notesMaster1.xml" Id="R2baab9b2f2f04d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ebce1085af4c7f" /><Relationship Type="http://schemas.openxmlformats.org/officeDocument/2006/relationships/notesMaster" Target="/ppt/notesMasters/notesMaster1.xml" Id="Ra90da707fd7b40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875a0e4f214f2a" /><Relationship Type="http://schemas.openxmlformats.org/officeDocument/2006/relationships/notesMaster" Target="/ppt/notesMasters/notesMaster1.xml" Id="R16ccaca5dcd741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ac95f9bb534b97" /><Relationship Type="http://schemas.openxmlformats.org/officeDocument/2006/relationships/notesMaster" Target="/ppt/notesMasters/notesMaster1.xml" Id="R4aa74c18453f46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bfa00261cf42e4" /><Relationship Type="http://schemas.openxmlformats.org/officeDocument/2006/relationships/notesMaster" Target="/ppt/notesMasters/notesMaster1.xml" Id="Raebc7d74b98d47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21275bc214e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23ace4667740ca" /><Relationship Type="http://schemas.openxmlformats.org/officeDocument/2006/relationships/slideLayout" Target="/ppt/slideLayouts/slideLayout1.xml" Id="R119dd38300a040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9dd38300a040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acb410aae49dd" /><Relationship Type="http://schemas.openxmlformats.org/officeDocument/2006/relationships/notesSlide" Target="/ppt/notesSlides/notesSlide1.xml" Id="R4e37e95f3f0943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e2a3e83244f5c" /><Relationship Type="http://schemas.openxmlformats.org/officeDocument/2006/relationships/notesSlide" Target="/ppt/notesSlides/notesSlide2.xml" Id="Rb84f0de7146b44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c9ae18a2646d8" /><Relationship Type="http://schemas.openxmlformats.org/officeDocument/2006/relationships/notesSlide" Target="/ppt/notesSlides/notesSlide3.xml" Id="R73d1b0ed78794f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f9950b7184790" /><Relationship Type="http://schemas.openxmlformats.org/officeDocument/2006/relationships/notesSlide" Target="/ppt/notesSlides/notesSlide4.xml" Id="R081f9eeb592540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7025a67c14d47" /><Relationship Type="http://schemas.openxmlformats.org/officeDocument/2006/relationships/chart" Target="/ppt/slides/charts/chart1.xml" Id="R84fa32e97ea84561" /><Relationship Type="http://schemas.openxmlformats.org/officeDocument/2006/relationships/notesSlide" Target="/ppt/notesSlides/notesSlide5.xml" Id="Re5707256031540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7f4353b16412d" /><Relationship Type="http://schemas.openxmlformats.org/officeDocument/2006/relationships/chart" Target="/ppt/slides/charts/chart2.xml" Id="Rfd2f95af4eb64ca3" /><Relationship Type="http://schemas.openxmlformats.org/officeDocument/2006/relationships/notesSlide" Target="/ppt/notesSlides/notesSlide6.xml" Id="R39bb78b25a8141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b68ef21574d95" /><Relationship Type="http://schemas.openxmlformats.org/officeDocument/2006/relationships/notesSlide" Target="/ppt/notesSlides/notesSlide7.xml" Id="Ra0945964058445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da54600b24633" /><Relationship Type="http://schemas.openxmlformats.org/officeDocument/2006/relationships/notesSlide" Target="/ppt/notesSlides/notesSlide8.xml" Id="Rb0101aefc69c49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2ef5011374457" /><Relationship Type="http://schemas.openxmlformats.org/officeDocument/2006/relationships/notesSlide" Target="/ppt/notesSlides/notesSlide9.xml" Id="R07b4d12deefd407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Risk Decision Index</c:v>
          </c:tx>
          <c:spPr>
            <a:solidFill xmlns:a="http://schemas.openxmlformats.org/drawingml/2006/main">
              <a:srgbClr val="456990"/>
            </a:solidFill>
          </c:spPr>
          <c:dLbls/>
          <c:cat>
            <c:strLit>
              <c:ptCount val="3"/>
              <c:pt idx="0">
                <c:v>Low</c:v>
              </c:pt>
              <c:pt idx="1">
                <c:v>Moderate</c:v>
              </c:pt>
              <c:pt idx="2">
                <c:v>High</c:v>
              </c:pt>
            </c:strLit>
          </c:cat>
          <c:val>
            <c:numLit>
              <c:formatCode>General</c:formatCode>
              <c:ptCount val="3"/>
              <c:pt idx="0">
                <c:v>29.69</c:v>
              </c:pt>
              <c:pt idx="1">
                <c:v>51.2</c:v>
              </c:pt>
              <c:pt idx="2">
                <c:v>66.39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Coefficient</c:v>
          </c:tx>
          <c:spPr>
            <a:solidFill xmlns:a="http://schemas.openxmlformats.org/drawingml/2006/main">
              <a:srgbClr val="2D6A6A"/>
            </a:solidFill>
          </c:spPr>
          <c:invertIfNegative val="0"/>
          <c:dLbls/>
          <c:cat>
            <c:strLit>
              <c:ptCount val="7"/>
              <c:pt idx="0">
                <c:v>loneliness z</c:v>
              </c:pt>
              <c:pt idx="1">
                <c:v>social connection z</c:v>
              </c:pt>
              <c:pt idx="2">
                <c:v>stress z</c:v>
              </c:pt>
              <c:pt idx="3">
                <c:v>age z</c:v>
              </c:pt>
              <c:pt idx="4">
                <c:v>platform sessions z</c:v>
              </c:pt>
              <c:pt idx="5">
                <c:v>sleep z</c:v>
              </c:pt>
              <c:pt idx="6">
                <c:v>loneliness x connection</c:v>
              </c:pt>
            </c:strLit>
          </c:cat>
          <c:val>
            <c:numLit>
              <c:formatCode>General</c:formatCode>
              <c:ptCount val="7"/>
              <c:pt idx="0">
                <c:v>9.8147</c:v>
              </c:pt>
              <c:pt idx="1">
                <c:v>-5.1317</c:v>
              </c:pt>
              <c:pt idx="2">
                <c:v>4.9362</c:v>
              </c:pt>
              <c:pt idx="3">
                <c:v>0.9789</c:v>
              </c:pt>
              <c:pt idx="4">
                <c:v>1.067</c:v>
              </c:pt>
              <c:pt idx="5">
                <c:v>0.1521</c:v>
              </c:pt>
              <c:pt idx="6">
                <c:v>0.0525</c:v>
              </c:pt>
            </c:numLit>
          </c:val>
        </c:ser>
        <c:dLbls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A8C9E-9E33-4CCF-8B29-79A837AF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23A48"/>
                </a:solidFill>
              </a:defRPr>
            </a:pPr>
            <a:r>
              <a:rPr sz="1200" b="1">
                <a:solidFill>
                  <a:srgbClr val="B23A48"/>
                </a:solidFill>
              </a:rPr>
              <a:t>LONELINESS, SOCIAL CONNECTION, AND RISK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73A64-BEA1-4411-AD09-0E01BCB8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C2430"/>
                </a:solidFill>
              </a:defRPr>
            </a:pPr>
            <a:r>
              <a:rPr sz="4500" b="1">
                <a:solidFill>
                  <a:srgbClr val="1C2430"/>
                </a:solidFill>
              </a:rPr>
              <a:t>Does loneliness change how people choose risk?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05FFC-6D3E-40D8-9D5A-010210AE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</a:defRPr>
            </a:pPr>
            <a:r>
              <a:rPr sz="1725" b="0">
                <a:solidFill>
                  <a:srgbClr val="5B6472"/>
                </a:solidFill>
              </a:rPr>
              <a:t>A quantitative psychology and statistics project for late adolescents and emerging adults, linking social disconnection to reward timing, impulsive spending, risky choice, and conflict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D8D05-8E9C-458D-9746-289FC04C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38200"/>
            <a:ext cx="2381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33E87-815A-4CB7-AA0A-25D11470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43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6A"/>
                </a:solidFill>
              </a:defRPr>
            </a:pPr>
            <a:r>
              <a:rPr sz="900" b="1">
                <a:solidFill>
                  <a:srgbClr val="2D6A6A"/>
                </a:solidFill>
              </a:rPr>
              <a:t>BROAD 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E07AA-39FA-4653-91E9-BE29F98E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430"/>
                </a:solidFill>
              </a:defRPr>
            </a:pPr>
            <a:r>
              <a:rPr sz="1350" b="0">
                <a:solidFill>
                  <a:srgbClr val="1C2430"/>
                </a:solidFill>
              </a:rPr>
              <a:t>Social psychology and behavioral decision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A0739-0CA1-4EBC-96B4-E6C0A6C5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81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6A"/>
                </a:solidFill>
              </a:defRPr>
            </a:pPr>
            <a:r>
              <a:rPr sz="900" b="1">
                <a:solidFill>
                  <a:srgbClr val="2D6A6A"/>
                </a:solidFill>
              </a:rPr>
              <a:t>POPULATION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ED4BA-E184-407D-BB49-49D3A20B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193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430"/>
                </a:solidFill>
              </a:defRPr>
            </a:pPr>
            <a:r>
              <a:rPr sz="1350" b="0">
                <a:solidFill>
                  <a:srgbClr val="1C2430"/>
                </a:solidFill>
              </a:rPr>
              <a:t>Ages 16-24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DC1E9-28D4-4E6D-ABA4-AD265D1A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19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6A"/>
                </a:solidFill>
              </a:defRPr>
            </a:pPr>
            <a:r>
              <a:rPr sz="900" b="1">
                <a:solidFill>
                  <a:srgbClr val="2D6A6A"/>
                </a:solidFill>
              </a:rPr>
              <a:t>PREDICTOR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A9B6E-22A1-45DC-994E-B96C98B1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575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430"/>
                </a:solidFill>
              </a:defRPr>
            </a:pPr>
            <a:r>
              <a:rPr sz="1350" b="0">
                <a:solidFill>
                  <a:srgbClr val="1C2430"/>
                </a:solidFill>
              </a:rPr>
              <a:t>Loneliness and social connectedness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B8C77-3A72-41C1-9E1C-376B1641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6A"/>
                </a:solidFill>
              </a:defRPr>
            </a:pPr>
            <a:r>
              <a:rPr sz="900" b="1">
                <a:solidFill>
                  <a:srgbClr val="2D6A6A"/>
                </a:solidFill>
              </a:rPr>
              <a:t>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DBCDF-7610-45EE-ABBB-38B53368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957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430"/>
                </a:solidFill>
              </a:defRPr>
            </a:pPr>
            <a:r>
              <a:rPr sz="1350" b="0">
                <a:solidFill>
                  <a:srgbClr val="1C2430"/>
                </a:solidFill>
              </a:rPr>
              <a:t>Risk Decision 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E77410-3439-4783-B0D5-D7F61063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A6A"/>
                </a:solidFill>
              </a:defRPr>
            </a:pPr>
            <a:r>
              <a:rPr sz="900" b="1">
                <a:solidFill>
                  <a:srgbClr val="2D6A6A"/>
                </a:solidFill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7645C-14DF-4A15-AEC2-54AF6D56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339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C2430"/>
                </a:solidFill>
              </a:defRPr>
            </a:pPr>
            <a:r>
              <a:rPr sz="1350" b="0">
                <a:solidFill>
                  <a:srgbClr val="1C2430"/>
                </a:solidFill>
              </a:rPr>
              <a:t>Digital peer networks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001AD-4B79-4A78-B6AE-EE9F781C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Loneliness &amp; Risk Decision Lab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662C2-EEC4-4A62-8987-30E679A2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9851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893AED-29DA-4261-A59E-8857B44F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14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2430"/>
                </a:solidFill>
              </a:defRPr>
            </a:pPr>
            <a:r>
              <a:rPr sz="3150" b="1">
                <a:solidFill>
                  <a:srgbClr val="1C2430"/>
                </a:solidFill>
              </a:rPr>
              <a:t>Loneliness is modeled as a social signal that can shift decision weighting.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656E3-C1B5-4878-BB24-15E68711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05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2D6A6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17819-7342-4FB2-9706-3BEA25E2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6A"/>
          </a:solidFill>
          <a:ln xmlns:a="http://schemas.openxmlformats.org/drawingml/2006/main" w="9525">
            <a:solidFill>
              <a:srgbClr val="2D6A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61BD0-DAA1-438E-B1BE-C8161F4B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Perceived isolation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0B635-287B-4F10-9530-453506E6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952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2430"/>
                </a:solidFill>
              </a:defRPr>
            </a:pPr>
            <a:r>
              <a:rPr sz="1425" b="0">
                <a:solidFill>
                  <a:srgbClr val="1C2430"/>
                </a:solidFill>
              </a:rPr>
              <a:t>Lower belonging and weaker access to support cues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597B8-2F77-4293-B1A9-D3017F5C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C2430"/>
                </a:solidFill>
              </a:defRPr>
            </a:pPr>
            <a:r>
              <a:rPr sz="3300" b="1">
                <a:solidFill>
                  <a:srgbClr val="1C2430"/>
                </a:solidFill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43538-1C13-46DF-9296-DC281DEC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305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98E0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2B302-8CAF-4B04-ADE4-F02DA5BF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E04"/>
          </a:solidFill>
          <a:ln xmlns:a="http://schemas.openxmlformats.org/drawingml/2006/main" w="9525">
            <a:solidFill>
              <a:srgbClr val="D98E0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4131B-83B1-4E15-AFCE-C29564A4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716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Affective pressure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73E84-8AD2-45D8-BE50-EF965621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1952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2430"/>
                </a:solidFill>
              </a:defRPr>
            </a:pPr>
            <a:r>
              <a:rPr sz="1425" b="0">
                <a:solidFill>
                  <a:srgbClr val="1C2430"/>
                </a:solidFill>
              </a:rPr>
              <a:t>Stress, urgency, and affiliation motives become more salient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D43B5-0D34-432E-BAC1-C832888E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C2430"/>
                </a:solidFill>
              </a:defRPr>
            </a:pPr>
            <a:r>
              <a:rPr sz="3300" b="1">
                <a:solidFill>
                  <a:srgbClr val="1C2430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C3EFB-B253-4D2C-822C-F987DAEB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305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4569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C333F-0B5B-4F2D-A41C-319DFB2D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990"/>
          </a:solidFill>
          <a:ln xmlns:a="http://schemas.openxmlformats.org/drawingml/2006/main" w="9525">
            <a:solidFill>
              <a:srgbClr val="45699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F5FA2-C433-43C8-978E-31D66F5A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Decision weighting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3C4AE-5393-41BA-83DB-E441972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1952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2430"/>
                </a:solidFill>
              </a:defRPr>
            </a:pPr>
            <a:r>
              <a:rPr sz="1425" b="0">
                <a:solidFill>
                  <a:srgbClr val="1C2430"/>
                </a:solidFill>
              </a:rPr>
              <a:t>Immediate reward and defensive conflict responses gain weight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94F76-11FF-4600-9B45-35D99DCA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C2430"/>
                </a:solidFill>
              </a:defRPr>
            </a:pPr>
            <a:r>
              <a:rPr sz="3300" b="1">
                <a:solidFill>
                  <a:srgbClr val="1C2430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84399-78D1-4397-BE25-C80F3003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3050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D516F5-9081-4A3A-A09C-5B65539A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305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CC001-0345-4B7D-9C5C-302F9D38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716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Observable choices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30043-1862-44D9-99EE-27E36719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952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2430"/>
                </a:solidFill>
              </a:defRPr>
            </a:pPr>
            <a:r>
              <a:rPr sz="1425" b="0">
                <a:solidFill>
                  <a:srgbClr val="1C2430"/>
                </a:solidFill>
              </a:rPr>
              <a:t>Higher composite risk index across tasks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FE13F9-87BF-47B6-BD73-12708141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The model is not diagnostic. It is a measurable behavioral-decision framework informed by loneliness, social connectedness, social exclusion, delay discounting, and risk-taking literature.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36F24-7113-47C7-B0B3-822D3363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Loneliness &amp; Risk Decision Lab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5A73C-FF91-41B2-85B5-29789903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12396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813F45-1CAC-4B85-BDBA-7D8AA53D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430"/>
                </a:solidFill>
              </a:defRPr>
            </a:pPr>
            <a:r>
              <a:rPr sz="3000" b="1">
                <a:solidFill>
                  <a:srgbClr val="1C2430"/>
                </a:solidFill>
              </a:rPr>
              <a:t>The study converts subjective experience into auditable 0-100 indices.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625D1-9652-4F4D-B9E0-C79E8C61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25909-117E-4CBB-9636-674557AF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23A48"/>
                </a:solidFill>
              </a:defRPr>
            </a:pPr>
            <a:r>
              <a:rPr sz="1725" b="1">
                <a:solidFill>
                  <a:srgbClr val="B23A48"/>
                </a:solidFill>
              </a:rPr>
              <a:t>Loneliness Index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81F43-2FBF-45A7-B1AD-742EF2FE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7 custom Likert items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D7D59-6975-4C15-90DC-A3FF1A42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D6A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BB735-4713-4A05-B5AE-68A66C9C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6A6A"/>
                </a:solidFill>
              </a:defRPr>
            </a:pPr>
            <a:r>
              <a:rPr sz="1725" b="1">
                <a:solidFill>
                  <a:srgbClr val="2D6A6A"/>
                </a:solidFill>
              </a:rPr>
              <a:t>Social Connection Index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565CB-C6A8-452E-9DE6-E53B7982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09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6 support and contact items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904EF-FFB8-40D5-BECE-CFF5F984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8E0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A3895-35D4-4DA7-A40D-60D26E76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8E04"/>
                </a:solidFill>
              </a:defRPr>
            </a:pPr>
            <a:r>
              <a:rPr sz="1725" b="1">
                <a:solidFill>
                  <a:srgbClr val="D98E04"/>
                </a:solidFill>
              </a:rPr>
              <a:t>Immediate Reward Bias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CBD82-1409-4AE5-9F8A-0CA494CE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6 delay-choice 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01DBA-D713-4586-9F78-7FEF57EE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5699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C29E8-7133-4861-AA24-E9903962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56990"/>
                </a:solidFill>
              </a:defRPr>
            </a:pPr>
            <a:r>
              <a:rPr sz="1725" b="1">
                <a:solidFill>
                  <a:srgbClr val="456990"/>
                </a:solidFill>
              </a:rPr>
              <a:t>Impulsive Spending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C33DE-9DF8-4016-8841-F2E5B322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5 consumption impulse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340ED-8969-4321-BC31-96C47844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78D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AE660-1D53-417C-9ADA-9627D641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78D58"/>
                </a:solidFill>
              </a:defRPr>
            </a:pPr>
            <a:r>
              <a:rPr sz="1725" b="1">
                <a:solidFill>
                  <a:srgbClr val="678D58"/>
                </a:solidFill>
              </a:rPr>
              <a:t>High-Risk Choice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5521E-C509-49EA-8FD6-622B7251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5 binary risk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88803-0445-441D-953E-081E3070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6705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AE1B5-27D5-4EEB-8531-A00CDC9D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23A48"/>
                </a:solidFill>
              </a:defRPr>
            </a:pPr>
            <a:r>
              <a:rPr sz="1725" b="1">
                <a:solidFill>
                  <a:srgbClr val="B23A48"/>
                </a:solidFill>
              </a:rPr>
              <a:t>Conflict Defense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1FEA4-FB11-429B-9B5B-984180C8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5 conflict-response scenarios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6F1A8-5E37-4462-984D-7B40CCB7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E185C-44E3-4E52-8D22-75322CE8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Risk Decision Index = .35 Reward + .25 Spending + .25 Risk + .15 Conflict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EFE18-99FA-4F74-8A56-292967BB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Loneliness &amp; Risk Decision Lab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816A8E-901D-4E51-A248-B84AF7C4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32785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A90D59-9D2D-42FA-96C0-D1709291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62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C2430"/>
                </a:solidFill>
              </a:defRPr>
            </a:pPr>
            <a:r>
              <a:rPr sz="3000" b="1">
                <a:solidFill>
                  <a:srgbClr val="1C2430"/>
                </a:solidFill>
              </a:rPr>
              <a:t>The website is a data-collection system, not a static project page.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9F757-41D1-41E3-ABCA-1C99A6B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2143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375B2-353D-4C46-A9B9-DA5DF1A2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D6A6A"/>
                </a:solidFill>
              </a:defRPr>
            </a:pPr>
            <a:r>
              <a:rPr sz="1950" b="1">
                <a:solidFill>
                  <a:srgbClr val="2D6A6A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D1AA9-B2CB-486E-8634-3697D417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Survey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373FF-77E8-4CF8-921E-7E1773BB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Numeric social signals and choice tasks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54838-3E12-4E4E-BB19-5F4DF187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885950"/>
            <a:ext cx="2143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7D39B-5E7D-467B-AA09-BA91317A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764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8E04"/>
                </a:solidFill>
              </a:defRPr>
            </a:pPr>
            <a:r>
              <a:rPr sz="1950" b="1">
                <a:solidFill>
                  <a:srgbClr val="D98E0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6CB5B-D60B-48F0-B5CA-0A61BD5E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908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Scoring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04A65-481C-4D46-A8B7-0B6ECCCE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1242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Immediate profile plus 0-100 indices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88194-2F47-419C-9F0E-5D9EC2B8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2143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AE1C9-2E9C-4848-8218-656B497E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764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56990"/>
                </a:solidFill>
              </a:defRPr>
            </a:pPr>
            <a:r>
              <a:rPr sz="1950" b="1">
                <a:solidFill>
                  <a:srgbClr val="456990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EDD87-A3B0-4E1F-A251-DF01E94C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SQLite 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CE3A18-0398-49CA-B265-9FFEB265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Synthetic rows and live submissions stay separated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3CCC7-B3B5-4B4F-9FF2-959E7DC4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85950"/>
            <a:ext cx="2143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25E0C-1EE4-4A7B-84F5-EB003C2E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764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23A48"/>
                </a:solidFill>
              </a:defRPr>
            </a:pPr>
            <a:r>
              <a:rPr sz="1950" b="1">
                <a:solidFill>
                  <a:srgbClr val="B23A48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7EB75-107A-495A-9D87-5F6C4385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908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Research outputs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03021-8A90-4702-898B-7CA410E9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242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Dashboard, CSV, workbook, PDF, slides, video 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25436F-6CAA-4360-A24A-A4322BE5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C2430"/>
                </a:solidFill>
              </a:defRPr>
            </a:pPr>
            <a:r>
              <a:rPr sz="1800" b="0">
                <a:solidFill>
                  <a:srgbClr val="1C2430"/>
                </a:solidFill>
              </a:rPr>
              <a:t>Seeded database: 420 synthetic pilot rows. Live submissions are written as live_submission records.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5CAE8-C0AB-47D9-B5E2-6954B21A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Loneliness &amp; Risk Decision Lab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27DA1-A29C-4ED9-BA9A-340765BF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8890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DC1DF4-30A4-4D3D-AD09-D4991449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2430"/>
                </a:solidFill>
              </a:defRPr>
            </a:pPr>
            <a:r>
              <a:rPr sz="3150" b="1">
                <a:solidFill>
                  <a:srgbClr val="1C2430"/>
                </a:solidFill>
              </a:rPr>
              <a:t>The synthetic pilot produces a clear loneliness-risk gradient.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5810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fa32e97ea8456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D5947-3DC6-4001-8191-B595A4B5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95450"/>
            <a:ext cx="3524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07B3E-80B1-4F7B-850E-9987D211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430"/>
                </a:solidFill>
              </a:defRPr>
            </a:pPr>
            <a:r>
              <a:rPr sz="2025" b="1">
                <a:solidFill>
                  <a:srgbClr val="1C2430"/>
                </a:solidFill>
              </a:rPr>
              <a:t>Key statistics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A8351-3040-4E17-88E6-01CC46C7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2430"/>
                </a:solidFill>
              </a:defRPr>
            </a:pPr>
            <a:r>
              <a:rPr sz="1500" b="0">
                <a:solidFill>
                  <a:srgbClr val="1C2430"/>
                </a:solidFill>
              </a:rPr>
              <a:t>Cronbach alpha for loneliness: 0.911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84129-7E70-4583-B519-E0799415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146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2430"/>
                </a:solidFill>
              </a:defRPr>
            </a:pPr>
            <a:r>
              <a:rPr sz="1500" b="0">
                <a:solidFill>
                  <a:srgbClr val="1C2430"/>
                </a:solidFill>
              </a:rPr>
              <a:t>ANOVA F(2, 417) = 258.59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2405B-E299-4542-B54C-3CE49F45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52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C2430"/>
                </a:solidFill>
              </a:defRPr>
            </a:pPr>
            <a:r>
              <a:rPr sz="1500" b="0">
                <a:solidFill>
                  <a:srgbClr val="1C2430"/>
                </a:solidFill>
              </a:rPr>
              <a:t>Eta squared = 0.554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8CE31-1919-47F9-85FC-15B66266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Interpretation: the demonstration data support the model logic and validate the technical pipeline; live data are still needed for a real empirical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46DE9-821F-4A37-B185-A84509D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Loneliness &amp; Risk Decision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03214-ABB5-478B-91E8-8461F725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56539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9CE941-4664-4300-B6F3-074522D2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2430"/>
                </a:solidFill>
              </a:defRPr>
            </a:pPr>
            <a:r>
              <a:rPr sz="3150" b="1">
                <a:solidFill>
                  <a:srgbClr val="1C2430"/>
                </a:solidFill>
              </a:rPr>
              <a:t>Regression separates loneliness from social connection and stress.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6096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2f95af4eb64ca3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D6115-BC8A-41DE-9C09-4544F16C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575A6-DFA7-4151-A786-7B088596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85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23A48"/>
                </a:solidFill>
              </a:defRPr>
            </a:pPr>
            <a:r>
              <a:rPr sz="2100" b="1">
                <a:solidFill>
                  <a:srgbClr val="B23A48"/>
                </a:solidFill>
              </a:rPr>
              <a:t>OLS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A21BD-651E-43AD-9E3F-77A6B1BE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Loneliness z: b = 9.81, p &lt; .001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45C52-A7D5-43E0-BBA5-ACA5CDBA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33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Connection z: b = -5.13, p &lt; .001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45AC1-2028-4D39-A6D1-3AA5E3DF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Stress z: b = 4.94, p &lt; .001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F3B9D-23E6-4630-AA41-DCBD482B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4812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Controls: age, sleep, platform intensity, and loneliness-by-connection interaction.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F148B-66AB-4901-8DE3-B6D373C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Loneliness &amp; Risk Decision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5DDEB-0433-4055-9170-71F1E37B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8989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857A03-798C-4139-A090-477A1016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2430"/>
                </a:solidFill>
              </a:defRPr>
            </a:pPr>
            <a:r>
              <a:rPr sz="3150" b="1">
                <a:solidFill>
                  <a:srgbClr val="1C2430"/>
                </a:solidFill>
              </a:rPr>
              <a:t>Participants get a profile while the study gains structured data.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F7517-F636-42AF-9F9B-0E2E4159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A72C4-93A8-49DF-A241-F9AD4A60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90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56990"/>
                </a:solidFill>
              </a:defRPr>
            </a:pPr>
            <a:r>
              <a:rPr sz="2100" b="1">
                <a:solidFill>
                  <a:srgbClr val="456990"/>
                </a:solidFill>
              </a:rPr>
              <a:t>Website interaction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B5CC0-C124-485E-B223-BFFAD8B7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</a:defRPr>
            </a:pPr>
            <a:r>
              <a:rPr sz="1275" b="0">
                <a:solidFill>
                  <a:srgbClr val="1C2430"/>
                </a:solidFill>
              </a:rPr>
              <a:t>1. User enters social-platform, messaging, in-person, support, stress, and sleep indicators.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F11D1-3A59-4781-A931-323B27EE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</a:defRPr>
            </a:pPr>
            <a:r>
              <a:rPr sz="1275" b="0">
                <a:solidFill>
                  <a:srgbClr val="1C2430"/>
                </a:solidFill>
              </a:rPr>
              <a:t>2. Choice tasks estimate immediate reward bias, risky choice, spending impulse, and conflict defense.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72F00-A00E-4D30-89AA-1FB9CDAE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</a:defRPr>
            </a:pPr>
            <a:r>
              <a:rPr sz="1275" b="0">
                <a:solidFill>
                  <a:srgbClr val="1C2430"/>
                </a:solidFill>
              </a:rPr>
              <a:t>3. The API returns a Risk Decision Index and decision type.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F5D22-0787-4576-B190-65AAEFAB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C2430"/>
                </a:solidFill>
              </a:defRPr>
            </a:pPr>
            <a:r>
              <a:rPr sz="1275" b="0">
                <a:solidFill>
                  <a:srgbClr val="1C2430"/>
                </a:solidFill>
              </a:rPr>
              <a:t>4. Saved responses are stored locally in SQLite and can be exported as CSV.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B7D51-B0DB-481F-834D-4215E099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3714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30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453F8-53C9-428A-9504-9FA5544E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Personal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4FC32-5F74-4E37-807F-402CC09D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EE6"/>
                </a:solidFill>
              </a:defRPr>
            </a:pPr>
            <a:r>
              <a:rPr sz="1500" b="0">
                <a:solidFill>
                  <a:srgbClr val="D8DEE6"/>
                </a:solidFill>
              </a:rPr>
              <a:t>Risk Decision 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373DB-A5CB-4275-949C-CD1839B7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98E04"/>
                </a:solidFill>
              </a:defRPr>
            </a:pPr>
            <a:r>
              <a:rPr sz="4350" b="1">
                <a:solidFill>
                  <a:srgbClr val="D98E04"/>
                </a:solidFill>
              </a:rPr>
              <a:t>64.2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FD539-9AFE-4EBF-B225-3E097226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Reward-sensitive accelerator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76B71-4A6B-4F7B-A7F4-46A05CC7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388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23A48"/>
                </a:solidFill>
              </a:defRPr>
            </a:pPr>
            <a:r>
              <a:rPr sz="1650" b="1">
                <a:solidFill>
                  <a:srgbClr val="B23A48"/>
                </a:solidFill>
              </a:rPr>
              <a:t>Local survey link: http://localhost:8765/survey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B3661-9892-4AF8-B05C-CE78A3F6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Loneliness &amp; Risk Decision Lab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B7458-B7B5-49AB-908E-9E341C7B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21572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A3D436-B040-4CC9-BBE0-45AE7C57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2430"/>
                </a:solidFill>
              </a:defRPr>
            </a:pPr>
            <a:r>
              <a:rPr sz="3150" b="1">
                <a:solidFill>
                  <a:srgbClr val="1C2430"/>
                </a:solidFill>
              </a:rPr>
              <a:t>A rigorous project distinguishes evidence, pilot simulation, and real data.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D311D-6469-4BD3-AD2F-1D18D4C7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E0B4A-44B9-480E-9414-89988848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6A6A"/>
                </a:solidFill>
              </a:defRPr>
            </a:pPr>
            <a:r>
              <a:rPr sz="1725" b="1">
                <a:solidFill>
                  <a:srgbClr val="2D6A6A"/>
                </a:solidFill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69204-D604-4167-99C3-145B8E46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90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Peer-reviewed sources support constructs and mechanisms.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8FD60-719A-4ECB-9312-35471E9A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D9362-F55E-42AA-A5CF-9346B5A7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47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8E04"/>
                </a:solidFill>
              </a:defRPr>
            </a:pPr>
            <a:r>
              <a:rPr sz="1725" b="1">
                <a:solidFill>
                  <a:srgbClr val="D98E04"/>
                </a:solidFill>
              </a:rPr>
              <a:t>Synthetic 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762AE-BF89-40BC-8277-D03577B8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Generated rows test the pipeline and are clearly labeled.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2AF14-0057-4880-8392-3C1E3054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B8D01-39A5-49F1-A056-B2BCC4B4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56990"/>
                </a:solidFill>
              </a:defRPr>
            </a:pPr>
            <a:r>
              <a:rPr sz="1725" b="1">
                <a:solidFill>
                  <a:srgbClr val="456990"/>
                </a:solidFill>
              </a:rPr>
              <a:t>Live submissions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04422-C0BB-4A40-A47D-315E3701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Website entries are stored separately in SQLite.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09503-F2AE-4E6F-AD13-60214D0F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933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4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838B6-EE36-4BD7-ABA6-1F397B97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6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23A48"/>
                </a:solidFill>
              </a:defRPr>
            </a:pPr>
            <a:r>
              <a:rPr sz="1725" b="1">
                <a:solidFill>
                  <a:srgbClr val="B23A48"/>
                </a:solidFill>
              </a:rPr>
              <a:t>Ethics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1A533-EAAF-41BF-9D3D-BA07BDD5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62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C2430"/>
                </a:solidFill>
              </a:defRPr>
            </a:pPr>
            <a:r>
              <a:rPr sz="1575" b="0">
                <a:solidFill>
                  <a:srgbClr val="1C2430"/>
                </a:solidFill>
              </a:rPr>
              <a:t>A supervised study should add consent language and avoid identifiers.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72953-9358-4207-905D-C767B32D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B6472"/>
                </a:solidFill>
              </a:defRPr>
            </a:pPr>
            <a:r>
              <a:rPr sz="1425" b="0">
                <a:solidFill>
                  <a:srgbClr val="5B6472"/>
                </a:solidFill>
              </a:rPr>
              <a:t>Core sources include UCLA loneliness measurement, short loneliness surveys, social connectedness, DOSPERT risk-taking, delay discounting, impulsive buying, social exclusion, and public-health social connection reports.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E43DD-481F-4B1E-A4C3-88BBFAB9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Loneliness &amp; Risk Decision Lab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1F112-BC50-45A9-B687-459B0D84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3528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59F1A5-B00B-4444-975D-0F1C5809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23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C2430"/>
                </a:solidFill>
              </a:defRPr>
            </a:pPr>
            <a:r>
              <a:rPr sz="3150" b="1">
                <a:solidFill>
                  <a:srgbClr val="1C2430"/>
                </a:solidFill>
              </a:rPr>
              <a:t>The strongest next step is real sampling, not more decoration.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E720C-E17E-4782-956F-174BF131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A1DD7-BE18-47E1-A687-E3E57EB8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431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D6A6A"/>
                </a:solidFill>
              </a:defRPr>
            </a:pPr>
            <a:r>
              <a:rPr sz="3300" b="1">
                <a:solidFill>
                  <a:srgbClr val="2D6A6A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E74CD-36CD-4CB1-AB25-C1879FAD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05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Pilot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252CB-90D3-4F0C-9D86-93D29191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384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Have a mentor review item wording, consent, and risk language.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C9950-664C-4690-9835-0B792682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95450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3DD68-0F66-4598-B7E2-FA901470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4310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8E04"/>
                </a:solidFill>
              </a:defRPr>
            </a:pPr>
            <a:r>
              <a:rPr sz="3300" b="1">
                <a:solidFill>
                  <a:srgbClr val="D98E04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82943-00F1-48CD-A87A-AF49087F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05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Collect 80-150 live responses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C01F0-B43D-4FF7-9BE9-B1564F94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384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Use the QR/link and keep synthetic data separate.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2DC18-078C-4412-AA1A-A86120DB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9E6BF-81D2-4FA5-B224-FD8EC3EC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56990"/>
                </a:solidFill>
              </a:defRPr>
            </a:pPr>
            <a:r>
              <a:rPr sz="3300" b="1">
                <a:solidFill>
                  <a:srgbClr val="456990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F546C-F254-45A0-B157-128AC553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Run Stata/R replication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06738-B9F6-4922-B68D-BB2DAAB7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57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Use the included .do file and workbook model sheets.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0744D-B730-43BA-B314-8A1C23D0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4476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C24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7648A-66FF-4764-AD4F-B6DAADA8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23A48"/>
                </a:solidFill>
              </a:defRPr>
            </a:pPr>
            <a:r>
              <a:rPr sz="3300" b="1">
                <a:solidFill>
                  <a:srgbClr val="B23A48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0019D-6B38-4C0C-ABCC-D5AF2480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242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Revise claims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5D023-7F28-4398-BFED-96E413D1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57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Replace demonstration language with empirical findings only after real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5A30F-66A2-40DA-B2BE-82382842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C2430"/>
                </a:solidFill>
              </a:defRPr>
            </a:pPr>
            <a:r>
              <a:rPr sz="1725" b="1">
                <a:solidFill>
                  <a:srgbClr val="1C2430"/>
                </a:solidFill>
              </a:rPr>
              <a:t>Final output: a usable research website, data workbook, paper-style PDF, presentation deck, and narrated video asset.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F46F5-DBB9-4347-A45C-072F1132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Loneliness &amp; Risk Decision Lab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EF8E1-DE82-42DA-84FC-E72E2BAA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40210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2026-07-06T10:02:02.6190000Z</dcterms:created>
  <dcterms:modified xsi:type="dcterms:W3CDTF">2026-07-06T10:02:02.6190000Z</dcterms:modified>
</coreProperties>
</file>